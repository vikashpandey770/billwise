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731520"/>
            <a:ext cx="1828800" cy="182880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828800"/>
            <a:ext cx="1280160" cy="1280160"/>
          </a:xfrm>
          <a:prstGeom prst="ellipse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480560"/>
            <a:ext cx="1097280" cy="1097280"/>
          </a:xfrm>
          <a:prstGeom prst="ellipse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ptos Display"/>
              </a:rPr>
              <a:t>BILLWISE</a:t>
            </a:r>
          </a:p>
          <a:p>
            <a:r>
              <a:rPr sz="2500">
                <a:solidFill>
                  <a:srgbClr val="C3D2EB"/>
                </a:solidFill>
                <a:latin typeface="Aptos"/>
              </a:rPr>
              <a:t>Billing &amp; Invoice Management System</a:t>
            </a:r>
          </a:p>
          <a:p>
            <a:r>
              <a:rPr sz="1600">
                <a:solidFill>
                  <a:srgbClr val="91AFD7"/>
                </a:solidFill>
                <a:latin typeface="Aptos"/>
              </a:rPr>
              <a:t>Project Presentation — Backend &amp; 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069080"/>
            <a:ext cx="2926080" cy="502920"/>
          </a:xfrm>
          <a:prstGeom prst="round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Java • Spring Boot • JWT • MySQL • JSP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BECDE1"/>
                </a:solidFill>
                <a:latin typeface="Aptos"/>
              </a:rPr>
              <a:t>BillWise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BillWise is a web-based billing and invoice management system.</a:t>
            </a:r>
          </a:p>
          <a:p>
            <a:pPr>
              <a:spcAft>
                <a:spcPts val="11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The system is designed around secure Admin authentication and token-based API access.</a:t>
            </a:r>
          </a:p>
          <a:p>
            <a:pPr>
              <a:spcAft>
                <a:spcPts val="11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Main modules: Admin Login, Dashboard, Customer Management, Invoice Management, Reminders and Scheduled Jobs.</a:t>
            </a:r>
          </a:p>
          <a:p>
            <a:pPr>
              <a:spcAft>
                <a:spcPts val="11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The backend follows a layered architecture: Controller → Service → Repository → Database.</a:t>
            </a:r>
          </a:p>
          <a:p>
            <a:pPr>
              <a:spcAft>
                <a:spcPts val="11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JSP + JavaScript provide the frontend and communicate with REST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2.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874519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Secure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Admin authentication with BCrypt password verification and JWT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874519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Customer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Create, view, update and delete customer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234440"/>
            <a:ext cx="73152" cy="1874519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Invoice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Manage invoice number, customer, dates, amount, status and description.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73152" cy="1874519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Reminder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245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Process invoices based on status/due-date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874519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245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Display customer, invoice and reminder statistics in one place.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874519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Scheduled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245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Provide APIs to create, enable, disable, update and run jobs.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3.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73152" cy="77724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161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Java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Core development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73152" cy="77724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2161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709928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Application &amp; REST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2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039112"/>
            <a:ext cx="73152" cy="77724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20370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Spring Data JPA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697480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Repository/data access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39112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039112"/>
            <a:ext cx="73152" cy="77724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0370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Hibernate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97480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ORM between Java and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26664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026664"/>
            <a:ext cx="73152" cy="77724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191256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MySQL / MariaDB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685032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Persistent database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026664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26664"/>
            <a:ext cx="73152" cy="77724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3191256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Spring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685032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API access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014216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014216"/>
            <a:ext cx="73152" cy="77724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672584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Stateless authentication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014216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014216"/>
            <a:ext cx="73152" cy="77724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BCrypt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672584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Password hashing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001768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001768"/>
            <a:ext cx="73152" cy="77724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1663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JSP + JavaScript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5660136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Frontend and API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001768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001768"/>
            <a:ext cx="73152" cy="77724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51663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Maven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5660136"/>
            <a:ext cx="489204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Build and dependency management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4. Overall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JSP /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3317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REST Controllers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3317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Service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317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2331720"/>
            <a:ext cx="1325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MySQL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74320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66360" y="274320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274320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21240" y="2743200"/>
            <a:ext cx="27432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41605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2035"/>
                </a:solidFill>
                <a:latin typeface="Aptos"/>
              </a:rPr>
              <a:t>JWT Filter + Spring Security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977639"/>
            <a:ext cx="0" cy="182881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83680" y="3977639"/>
            <a:ext cx="0" cy="182881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7080"/>
                </a:solidFill>
              </a:rPr>
              <a:t>Request flows through the controller/service/repository layers; JWT security protects secured APIs.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5. Important Project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73152" cy="141732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247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1848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SecurityConfig.java
Defines public/protected URLs, CSRF/session policy and JWT filter.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9601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73152" cy="141732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1247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1848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AuthController.java
CustomerController.java
InvoiceController.java
ScheduledJobController.java
DashboardController.java
Receives HTTP requests and returns API responses/pages.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73152" cy="141732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862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5584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Admin.java
Customer.java
Invoice.java
InvoiceStatus.java
ScheduledJob.java
Reminder entities
Maps Java objects to database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97480"/>
            <a:ext cx="73152" cy="141732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862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35584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AdminRepository
CustomerRepository
InvoiceRepository
ScheduledJobRepository
Reminder repositories
Handles database access using Spring Data JPA.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73152" cy="141732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599431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093207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CustomerService + Impl
InvoiceService + Impl
ScheduledJobService + Impl
Reminder/Dashboard services
Contains business logic.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348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434840"/>
            <a:ext cx="73152" cy="141732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599431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093207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JwtService.java
JwtAuthenticationFilter.java
Creates/validates JWT and authenticates requests.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6. Application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jdbc:mysql://localhost:3306/billwise
Username: root
Password: configured in properties
JPA ddl-auto: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075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JSP View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01368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Prefix: /WEB-INF/jsp/
Suffix: .jsp
Example: return "login" → login.jsp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82880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0215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9592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Application name: BillWise
Port: 8080
Spring Boot starts embedded Tomcat.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375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337560"/>
            <a:ext cx="73152" cy="182880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50215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Hibernate / JPA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5928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Entities map to tables. Repository methods are translated into SQL by Hibernate.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7. Admin Login — Complete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1. login.jsp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78308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13258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2. POST /auth/login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178308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59" y="13258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3. AuthController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1783080"/>
            <a:ext cx="548639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89719" y="13258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4. AdminRepository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5. BCrypt check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393192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34747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6. JwtService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393192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34747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7. JWT returned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3931920"/>
            <a:ext cx="548639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19" y="34747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8. localStorage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Admin credentials are checked against the Admin table.</a:t>
            </a:r>
          </a:p>
          <a:p>
            <a:pPr>
              <a:spcAft>
                <a:spcPts val="11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BCrypt verifies the entered password against the stored hash.</a:t>
            </a:r>
          </a:p>
          <a:p>
            <a:pPr>
              <a:spcAft>
                <a:spcPts val="11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On success, JwtService creates a token containing the authenticated identity.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8. JWT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8288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Authorization:
Bearer &lt;token&gt;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JwtAuthentication
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Controller /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286000"/>
            <a:ext cx="50292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228600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28600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browser stores the JWT after successful login.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Secured API calls send the token in the Authorization header.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custom filter validates the token and places authentication in SecurityContext.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Spring Security then allows the request to reach the protected controller.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9. Security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Public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/login
/auth/**
static resources
page routes where configured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07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Protected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/dashboard/summary
/customers
/invoices
/jobs
Other secured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07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Security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0136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CSRF disabled for API setup
STATELESS session policy
JWT filter before UsernamePasswordAuthenticationFilter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SecurityConfig decides which endpoints require authentication.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JwtAuthenticationFilter performs the token-level authentication work.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Together they protect the REST APIs without putting passwords in every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10. Customer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210312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Customer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 is mapped to the customers table.
Fields:
• id
• name
•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9728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97280"/>
            <a:ext cx="73152" cy="210312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261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CustomerRepository extends JpaRepository&lt;Customer, Long&gt;.
Provides save, findAll, findById and delete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73152" cy="210312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261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5564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CustomerService defines business methods.
CustomerServiceImpl performs the repository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114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Customer JSP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114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CustomerController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114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MySQL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4526280"/>
            <a:ext cx="6400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4526280"/>
            <a:ext cx="6400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11. Customer CRUD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51560"/>
            <a:ext cx="4572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3152" cy="7132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216151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POST /customers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420624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Create 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84248"/>
            <a:ext cx="4572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84248"/>
            <a:ext cx="73152" cy="713232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42615"/>
            <a:ext cx="420624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Get all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16936"/>
            <a:ext cx="4572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16936"/>
            <a:ext cx="73152" cy="713232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8152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/customers/{id}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575304"/>
            <a:ext cx="420624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Get one 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9624"/>
            <a:ext cx="4572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49624"/>
            <a:ext cx="73152" cy="713232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14215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PUT /customers/{id}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07992"/>
            <a:ext cx="420624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Update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82312"/>
            <a:ext cx="4572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782312"/>
            <a:ext cx="73152" cy="713232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946904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DELETE /customers/{id}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440680"/>
            <a:ext cx="420624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Delete 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3258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Every secured API request carries the JWT token.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Customer JSP uses JavaScript fetch() to call these endpoints.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current customer module was tested with actual INSERT and SELECT operations in the database.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12. Invoice Module — Entity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9144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24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18488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Primary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60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73152" cy="91440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124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invoiceNumber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618488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Unique invoice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03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103120"/>
            <a:ext cx="73152" cy="91440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267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761487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Many invoices → one 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103120"/>
            <a:ext cx="73152" cy="91440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67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invoiceDate / dueDate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61487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Billing and payment 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46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46120"/>
            <a:ext cx="73152" cy="91440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410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904487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BigDecimal monetary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46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73152" cy="91440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3410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904487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NEW / PENDING / DUE / OVERDUE / PAID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389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389120"/>
            <a:ext cx="73152" cy="9144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553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047488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Invoice details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3891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389120"/>
            <a:ext cx="73152" cy="91440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5537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createdAt / updatedAt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5047488"/>
            <a:ext cx="4892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Audit timestamps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13. Customer ↔ Invoice 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2035"/>
                </a:solidFill>
                <a:latin typeface="Aptos"/>
              </a:rPr>
              <a:t>CUSTOMER
id = 1
Rahul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4300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INV-001
customer_id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317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INV-002
customer_id 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52044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INV-003
customer_id =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840480" y="1600200"/>
            <a:ext cx="822960" cy="91440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2514600"/>
            <a:ext cx="822960" cy="27432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40480" y="2514600"/>
            <a:ext cx="822960" cy="1463039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1417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JPA mapping: @ManyToOne on Invoice.</a:t>
            </a:r>
          </a:p>
          <a:p>
            <a:pPr>
              <a:spcAft>
                <a:spcPts val="11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Database column: customer_id.</a:t>
            </a:r>
          </a:p>
          <a:p>
            <a:pPr>
              <a:spcAft>
                <a:spcPts val="11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One customer can have multiple invoices; each invoice belongs to one customer.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14. Invoice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73152" cy="114300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1704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POST /invoices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6420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Create invoice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058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73152" cy="11430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1704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66420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List invoices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73152" cy="114300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/invoices/{id}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08152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Get invoice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231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23160"/>
            <a:ext cx="73152" cy="114300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PUT /invoices/{id}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08152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Update invoice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73152" cy="114300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0050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DELETE /invoices/{id}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49884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Delete invoice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8404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40480"/>
            <a:ext cx="73152" cy="114300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0050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/invoices/status/{status}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49884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Filter by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15. Invoice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73152" cy="201168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848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7860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Newly created invoice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2024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73152" cy="201168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0848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57860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Payment is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92024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920240"/>
            <a:ext cx="73152" cy="201168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0848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57860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Due for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2024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920240"/>
            <a:ext cx="73152" cy="201168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0848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OVERDUE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257860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Due date has passed / needs attention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92024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1920240"/>
            <a:ext cx="73152" cy="201168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57860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Payment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InvoiceStatus is an enum, so status values remain controlled and consistent.</a:t>
            </a:r>
          </a:p>
          <a:p>
            <a:pPr>
              <a:spcAft>
                <a:spcPts val="11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repository supports status-based filtering used by APIs and dashboard/reminder 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16. Reminder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Scheduled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10312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Due Date /
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10312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Reminder
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10312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Success /
Failed / Skipped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542032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0600" y="2542032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2542032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2542032"/>
            <a:ext cx="41148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8862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existing reminder service processes invoices and skips PAID invoices.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Reminder attempts are tracked with SUCCESS / FAILED status.</a:t>
            </a:r>
          </a:p>
          <a:p>
            <a:pPr>
              <a:spcAft>
                <a:spcPts val="11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Startup logs already show automatic reminder processing running.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17. Scheduled Job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73152" cy="82296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0789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POST /jobs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72768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Create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91440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73152" cy="82296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0789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572768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List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6596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73152" cy="82296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13055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GET /jobs/{id}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624328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Get job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965960"/>
            <a:ext cx="73152" cy="82296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13055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PUT /jobs/{id}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624328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Update job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017520"/>
            <a:ext cx="73152" cy="82296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1821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PUT /jobs/{id}/enable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675887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Enable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1752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73152" cy="82296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1821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PUT /jobs/{id}/disable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675887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Disable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069079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069079"/>
            <a:ext cx="73152" cy="82296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233671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POST /jobs/{id}/run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727447"/>
            <a:ext cx="49377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Run manually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18.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Total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0972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097280"/>
            <a:ext cx="73152" cy="155448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26187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Total 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755648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Invoice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73152" cy="155448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26187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Paid Invoices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55648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Status = PAID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0972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097280"/>
            <a:ext cx="73152" cy="155448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26187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Pending 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755648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Status = 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63239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63239"/>
            <a:ext cx="73152" cy="155448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Overdue Invoices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721607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Status = OVERDUE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063239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063239"/>
            <a:ext cx="73152" cy="155448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Total Reminders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721607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Reminder attempts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063239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063239"/>
            <a:ext cx="73152" cy="1554480"/>
          </a:xfrm>
          <a:prstGeom prst="rect">
            <a:avLst/>
          </a:prstGeom>
          <a:solidFill>
            <a:srgbClr val="2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Successful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721607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SUCCESS attempts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063239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3063239"/>
            <a:ext cx="73152" cy="1554480"/>
          </a:xfrm>
          <a:prstGeom prst="rect">
            <a:avLst/>
          </a:prstGeom>
          <a:solidFill>
            <a:srgbClr val="D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721607"/>
            <a:ext cx="21488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FAILED attempts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Dashboard JSP calls /dashboard/summary with the JWT token and displays the returned counts.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19. End-to-End Project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Admin Login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69164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1234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JWT Token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23560" y="169164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1234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1691640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59" y="1234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Customer CRUD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520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Invoice CRUD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3977639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91840" y="3520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Reminder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23560" y="3977639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3520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4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Scheduled Jobs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3977639"/>
            <a:ext cx="54864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35204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035"/>
                </a:solidFill>
                <a:latin typeface="Aptos"/>
              </a:rPr>
              <a:t>Dashboard Stats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148840"/>
            <a:ext cx="0" cy="137160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160520" y="3520440"/>
            <a:ext cx="0" cy="457199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The same authenticated flow connects the UI, REST APIs, business services, repositories and database.</a:t>
            </a:r>
          </a:p>
          <a:p>
            <a:pPr>
              <a:spcAft>
                <a:spcPts val="11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Invoice data feeds reminder processing, while aggregated data is shown on the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20. Current Project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124712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Spring Boot +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618488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72768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737360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Admin Login +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31136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85416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185416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350008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843784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98064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798064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962656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Customer CRUD + JSP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456432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10712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410712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575304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Invoice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069080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023360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023360"/>
            <a:ext cx="73152" cy="484632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187952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Reminder / Jobs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681728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Implemented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36008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636008"/>
            <a:ext cx="73152" cy="484632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800600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Invoice JSP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5294376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Needs final fix/test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248656"/>
            <a:ext cx="6675120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248656"/>
            <a:ext cx="73152" cy="484632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413248"/>
            <a:ext cx="6309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Final Integration &amp;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907024"/>
            <a:ext cx="6309359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Remaining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143000"/>
            <a:ext cx="3200400" cy="502920"/>
          </a:xfrm>
          <a:prstGeom prst="round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1143000"/>
            <a:ext cx="2514600" cy="502920"/>
          </a:xfrm>
          <a:prstGeom prst="round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8288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32035"/>
                </a:solidFill>
              </a:rPr>
              <a:t>≈ 75–80%</a:t>
            </a:r>
          </a:p>
          <a:p>
            <a:pPr algn="ctr"/>
            <a:r>
              <a:rPr sz="1500">
                <a:solidFill>
                  <a:srgbClr val="647080"/>
                </a:solidFill>
              </a:rPr>
              <a:t>current project progress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6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08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BILLWISE</a:t>
            </a:r>
          </a:p>
          <a:p>
            <a:pPr algn="ctr"/>
            <a:r>
              <a:rPr sz="2000">
                <a:solidFill>
                  <a:srgbClr val="BED2EB"/>
                </a:solidFill>
              </a:rPr>
              <a:t>Secure billing • Customer management • Invoice tracking • Automated reminders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73152" cy="155448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29968" y="29077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3401568"/>
            <a:ext cx="2057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Spring Boot
REST APIs
JPA / Hibernate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432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2743200"/>
            <a:ext cx="73152" cy="1554480"/>
          </a:xfrm>
          <a:prstGeom prst="rect">
            <a:avLst/>
          </a:prstGeom>
          <a:solidFill>
            <a:srgbClr val="74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7" y="29077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7" y="3401568"/>
            <a:ext cx="2057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JWT
Spring Security
BCrypt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7432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743200"/>
            <a:ext cx="73152" cy="1554480"/>
          </a:xfrm>
          <a:prstGeom prst="rect">
            <a:avLst/>
          </a:prstGeom>
          <a:solidFill>
            <a:srgbClr val="2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9077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035"/>
                </a:solidFill>
                <a:latin typeface="Aptos Display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401568"/>
            <a:ext cx="2057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Customers
Invoices
Reminders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834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3D2EB"/>
                </a:solidFill>
              </a:rPr>
              <a:t>Next: finalize Invoice JSP → integration testing → final polish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